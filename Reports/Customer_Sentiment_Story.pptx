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GB" sz="1400" b="0" i="0" u="none" strike="noStrike">
                <a:solidFill>
                  <a:srgbClr val="1B2A4A"/>
                </a:solidFill>
                <a:latin typeface="Arial"/>
              </a:rPr>
              <a:t>Overall Sentiment Distribution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D92-478E-8911-CAAD3AA9D053}"/>
              </c:ext>
            </c:extLst>
          </c:dPt>
          <c:dPt>
            <c:idx val="1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D92-478E-8911-CAAD3AA9D053}"/>
              </c:ext>
            </c:extLst>
          </c:dPt>
          <c:dPt>
            <c:idx val="2"/>
            <c:bubble3D val="0"/>
            <c:spPr>
              <a:solidFill>
                <a:srgbClr val="C9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D92-478E-8911-CAAD3AA9D05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D92-478E-8911-CAAD3AA9D05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D92-478E-8911-CAAD3AA9D05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D92-478E-8911-CAAD3AA9D05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Positive</c:v>
                </c:pt>
                <c:pt idx="2">
                  <c:v>Neutral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68.599999999999994</c:v>
                </c:pt>
                <c:pt idx="1">
                  <c:v>27.2</c:v>
                </c:pt>
                <c:pt idx="2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D92-478E-8911-CAAD3AA9D0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8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1B2A4A"/>
                </a:solidFill>
                <a:latin typeface="Arial"/>
              </a:rPr>
              <a:t>Negative Sentiment Rate by Product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Negative %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Fashion</c:v>
                </c:pt>
                <c:pt idx="1">
                  <c:v>Sports</c:v>
                </c:pt>
                <c:pt idx="2">
                  <c:v>Beauty</c:v>
                </c:pt>
                <c:pt idx="3">
                  <c:v>Electronics</c:v>
                </c:pt>
                <c:pt idx="4">
                  <c:v>Food &amp; Grocery</c:v>
                </c:pt>
                <c:pt idx="5">
                  <c:v>Toys</c:v>
                </c:pt>
                <c:pt idx="6">
                  <c:v>Home &amp; Living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</c:v>
                </c:pt>
                <c:pt idx="1">
                  <c:v>67.7</c:v>
                </c:pt>
                <c:pt idx="2">
                  <c:v>67.5</c:v>
                </c:pt>
                <c:pt idx="3">
                  <c:v>68.2</c:v>
                </c:pt>
                <c:pt idx="4">
                  <c:v>68.400000000000006</c:v>
                </c:pt>
                <c:pt idx="5">
                  <c:v>69.3</c:v>
                </c:pt>
                <c:pt idx="6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21-4D95-A90C-FC04D01192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85"/>
                    </a:solidFill>
                    <a:latin typeface="Arial"/>
                  </a:defRPr>
                </a:pPr>
                <a:r>
                  <a:rPr lang="en-GB" sz="1100" b="0" i="0" u="none" strike="noStrike">
                    <a:solidFill>
                      <a:srgbClr val="5B6B85"/>
                    </a:solidFill>
                    <a:latin typeface="Arial"/>
                  </a:rPr>
                  <a:t>Negative sentiment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1B2A4A"/>
                </a:solidFill>
                <a:latin typeface="Arial"/>
              </a:rPr>
              <a:t>Review Volume by Country (Top 8 by Volume)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US</c:v>
                </c:pt>
                <c:pt idx="1">
                  <c:v>GB</c:v>
                </c:pt>
                <c:pt idx="2">
                  <c:v>CA</c:v>
                </c:pt>
                <c:pt idx="3">
                  <c:v>IN</c:v>
                </c:pt>
                <c:pt idx="4">
                  <c:v>IE</c:v>
                </c:pt>
                <c:pt idx="5">
                  <c:v>DK</c:v>
                </c:pt>
                <c:pt idx="6">
                  <c:v>NL</c:v>
                </c:pt>
                <c:pt idx="7">
                  <c:v>AU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6538</c:v>
                </c:pt>
                <c:pt idx="1">
                  <c:v>4943</c:v>
                </c:pt>
                <c:pt idx="2">
                  <c:v>547</c:v>
                </c:pt>
                <c:pt idx="3">
                  <c:v>395</c:v>
                </c:pt>
                <c:pt idx="4">
                  <c:v>181</c:v>
                </c:pt>
                <c:pt idx="5">
                  <c:v>165</c:v>
                </c:pt>
                <c:pt idx="6">
                  <c:v>157</c:v>
                </c:pt>
                <c:pt idx="7">
                  <c:v>136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75-4901-B80F-4AA88D52D4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US</c:v>
                </c:pt>
                <c:pt idx="1">
                  <c:v>GB</c:v>
                </c:pt>
                <c:pt idx="2">
                  <c:v>CA</c:v>
                </c:pt>
                <c:pt idx="3">
                  <c:v>IN</c:v>
                </c:pt>
                <c:pt idx="4">
                  <c:v>IE</c:v>
                </c:pt>
                <c:pt idx="5">
                  <c:v>DK</c:v>
                </c:pt>
                <c:pt idx="6">
                  <c:v>NL</c:v>
                </c:pt>
                <c:pt idx="7">
                  <c:v>AU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2220</c:v>
                </c:pt>
                <c:pt idx="1">
                  <c:v>2069</c:v>
                </c:pt>
                <c:pt idx="2">
                  <c:v>134</c:v>
                </c:pt>
                <c:pt idx="3">
                  <c:v>178</c:v>
                </c:pt>
                <c:pt idx="4">
                  <c:v>45</c:v>
                </c:pt>
                <c:pt idx="5">
                  <c:v>68</c:v>
                </c:pt>
                <c:pt idx="6">
                  <c:v>46</c:v>
                </c:pt>
                <c:pt idx="7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75-4901-B80F-4AA88D52D4F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C99A2E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US</c:v>
                </c:pt>
                <c:pt idx="1">
                  <c:v>GB</c:v>
                </c:pt>
                <c:pt idx="2">
                  <c:v>CA</c:v>
                </c:pt>
                <c:pt idx="3">
                  <c:v>IN</c:v>
                </c:pt>
                <c:pt idx="4">
                  <c:v>IE</c:v>
                </c:pt>
                <c:pt idx="5">
                  <c:v>DK</c:v>
                </c:pt>
                <c:pt idx="6">
                  <c:v>NL</c:v>
                </c:pt>
                <c:pt idx="7">
                  <c:v>AU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396</c:v>
                </c:pt>
                <c:pt idx="1">
                  <c:v>242</c:v>
                </c:pt>
                <c:pt idx="2">
                  <c:v>22</c:v>
                </c:pt>
                <c:pt idx="3">
                  <c:v>46</c:v>
                </c:pt>
                <c:pt idx="4">
                  <c:v>14</c:v>
                </c:pt>
                <c:pt idx="5">
                  <c:v>1</c:v>
                </c:pt>
                <c:pt idx="6">
                  <c:v>10</c:v>
                </c:pt>
                <c:pt idx="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75-4901-B80F-4AA88D52D4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85"/>
                    </a:solidFill>
                    <a:latin typeface="Arial"/>
                  </a:defRPr>
                </a:pPr>
                <a:r>
                  <a:rPr lang="en-GB" sz="1100" b="0" i="0" u="none" strike="noStrike">
                    <a:solidFill>
                      <a:srgbClr val="5B6B85"/>
                    </a:solidFill>
                    <a:latin typeface="Arial"/>
                  </a:rPr>
                  <a:t>Review count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8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078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2104" y="1005840"/>
            <a:ext cx="10332720" cy="1505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3200" b="1" dirty="0">
                <a:solidFill>
                  <a:schemeClr val="bg1"/>
                </a:solidFill>
              </a:rPr>
              <a:t>SENTIMENT ANALYSIS FOR CUSTOMER FEEDBACK – PRODUCT AND SERVICE IMPROVEMENTS WITH PRECISION</a:t>
            </a:r>
          </a:p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20,806 reviews </a:t>
            </a:r>
            <a:r>
              <a:rPr lang="en-US" sz="2000" dirty="0">
                <a:solidFill>
                  <a:srgbClr val="B9C2D8"/>
                </a:solidFill>
                <a:ea typeface="Calibri" pitchFamily="34" charset="-122"/>
                <a:cs typeface="Calibri" pitchFamily="34" charset="-120"/>
              </a:rPr>
              <a:t>are</a:t>
            </a:r>
            <a:r>
              <a:rPr lang="en-US" sz="20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telling us about our business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story for leadership  ·  149 countries  ·  7 product categories  ·  2007–2024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966960" y="698863"/>
            <a:ext cx="1828800" cy="1828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0698480" y="1554480"/>
            <a:ext cx="1005840" cy="1005840"/>
          </a:xfrm>
          <a:prstGeom prst="ellipse">
            <a:avLst/>
          </a:prstGeom>
          <a:solidFill>
            <a:srgbClr val="C62828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9052560" y="1737360"/>
            <a:ext cx="640080" cy="640080"/>
          </a:xfrm>
          <a:prstGeom prst="ellipse">
            <a:avLst/>
          </a:prstGeom>
          <a:solidFill>
            <a:srgbClr val="2E7D32">
              <a:alpha val="3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8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Briefing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So Far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20,806 customers, one after another, telling us how their experience really went. Nearly seven in ten walked away frustrated enough to say so in writing.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EDEF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20,806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30552" y="228600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EDEF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130552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30552" y="2971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12464" y="228600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EDEF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712464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12464" y="2971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94376" y="228600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EDEF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294376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68.6%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94376" y="2971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6163056" cy="1737360"/>
          </a:xfrm>
          <a:prstGeom prst="roundRect">
            <a:avLst>
              <a:gd name="adj" fmla="val 421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68680" y="4023360"/>
            <a:ext cx="55229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story about a single bad week.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pattern, repeated across 149 countries and every product line we sell.</a:t>
            </a:r>
            <a:endParaRPr lang="en-US" sz="14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720840" y="914400"/>
          <a:ext cx="49377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 — Executive Summary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34072" y="6446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 Insights —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Problem That Touches Every Category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sentiment ranges from just 66.0% to 70.3% across all seven product categories; there is no safe haven and no clear outlier. The dissatisfaction is structural, not isolated.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6675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8308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EDEF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dow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993392"/>
            <a:ext cx="457200" cy="457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80960" y="1947672"/>
            <a:ext cx="548640" cy="548640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icon_dow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084832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1248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&amp; Living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7726680" y="25146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negative sentiment of any category, at 70.0% — and the lowest positive rate (26.2%).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7498080" y="3931920"/>
            <a:ext cx="4160520" cy="1920240"/>
          </a:xfrm>
          <a:prstGeom prst="roundRect">
            <a:avLst>
              <a:gd name="adj" fmla="val 3810"/>
            </a:avLst>
          </a:prstGeom>
          <a:solidFill>
            <a:srgbClr val="EDEF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7"/>
          <p:cNvSpPr/>
          <p:nvPr/>
        </p:nvSpPr>
        <p:spPr>
          <a:xfrm>
            <a:off x="7680960" y="4096512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2" descr="icon_thumbsu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423367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1248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7726680" y="466344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relative outperformer: 66.0% negative and 29.4% positive — still far from healthy, but meaningfully ahead of the rest.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Two — A Global Pattern, Concentrated in Our Biggest Markets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varies across 149 countries,  but not randomly. Our highest-volume markets carry the heaviest absolute load of negative reviews, which is exactly where fixes matter most.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7315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78308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quo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0116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58200" y="26060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is both our top source of positive sentiment in absolute terms and our largest source of negative sentiment, a sign that scale, not goodwill, is driving the numbers there.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458200" y="47548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US and UK alone account for over half of all reviews in the dataset, modest sentiment improvements in these two markets move the company-wide number more than the same improvement anywhere else.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the Dots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define the current state of customer sentiment.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rgbClr val="EDEF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icon_sca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933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105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Dissatisfaction is broad-based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63040" y="221284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category sits in a similar negative-sentiment band (66–70%). This is not a one-category problem.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685800" cy="685800"/>
          </a:xfrm>
          <a:prstGeom prst="ellipse">
            <a:avLst/>
          </a:prstGeom>
          <a:solidFill>
            <a:srgbClr val="EDEF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1" descr="icon_tag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4564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2735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&amp; Living is the single biggest opportunity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463040" y="367588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negative sentiment and the lowest positive sentiment of any category are the clearest places to start.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754880"/>
            <a:ext cx="685800" cy="685800"/>
          </a:xfrm>
          <a:prstGeom prst="ellipse">
            <a:avLst/>
          </a:prstGeom>
          <a:solidFill>
            <a:srgbClr val="EDEFF5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2" descr="icon_glob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91947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7365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markets drive most of the volume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463040" y="51389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and UK alone account for nearly 80% of all reviews, and a similarly outsized share of the negative ones. Small gains here matter most.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Recommend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concrete next steps, ordered by likely impact.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2C3F6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icon_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945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Prioritise Home &amp; Living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root-cause analysis on this category first; likely candidates include delivery damage, sizing/fit, or returns friction.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47288" y="178308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721608" y="2057400"/>
            <a:ext cx="594360" cy="594360"/>
          </a:xfrm>
          <a:prstGeom prst="ellipse">
            <a:avLst/>
          </a:prstGeom>
          <a:solidFill>
            <a:srgbClr val="2C3F6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icon_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21945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21608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the US and UK as highest-leverage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21608" y="36118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generate nearly 80% of all reviews. A small percentage-point improvement here moves the global average more than the same gain anywhere else.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721608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45936" y="178308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EDEFF5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6620256" y="20574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icon_trophy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21945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0256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what's working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620256" y="36118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and our best-performing markets are doing something right; test whether those practices transfer elsewhere.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620256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A6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244584" y="178308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9518904" y="2057400"/>
            <a:ext cx="594360" cy="594360"/>
          </a:xfrm>
          <a:prstGeom prst="ellipse">
            <a:avLst/>
          </a:prstGeom>
          <a:solidFill>
            <a:srgbClr val="2C3F6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icon_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219456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18904" y="2834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 this analysis monthly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518904" y="361188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whether interventions are shifting the 68.6% baseline and catch emerging problem categories early.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518904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B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731520"/>
            <a:ext cx="2377440" cy="237744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058400" y="4937760"/>
            <a:ext cx="2103120" cy="2103120"/>
          </a:xfrm>
          <a:prstGeom prst="ellipse">
            <a:avLst/>
          </a:prstGeom>
          <a:solidFill>
            <a:srgbClr val="C62828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icon_quo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 thousand customers took the time to tell us how they felt. Most of them were not happy. That is uncomfortable to read, but it is also a gift: a detailed, country-by-country, category-by-category map of exactly where to focus.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14400" y="4617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doesn't just describe a problem. It points to where the highest-impact fixes are likely to be.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5760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8C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645</Words>
  <Application>Microsoft Office PowerPoint</Application>
  <PresentationFormat>Widescreen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Voice of the Customer</dc:title>
  <dc:subject>PptxGenJS Presentation</dc:subject>
  <dc:creator>Customer Insights</dc:creator>
  <cp:lastModifiedBy>EUGENE OSAE</cp:lastModifiedBy>
  <cp:revision>2</cp:revision>
  <dcterms:created xsi:type="dcterms:W3CDTF">2026-06-28T15:40:00Z</dcterms:created>
  <dcterms:modified xsi:type="dcterms:W3CDTF">2026-07-01T09:32:56Z</dcterms:modified>
</cp:coreProperties>
</file>